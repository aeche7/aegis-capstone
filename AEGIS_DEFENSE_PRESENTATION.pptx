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9144000" cy="54864"/>
          </a:xfrm>
          <a:prstGeom prst="rect">
            <a:avLst/>
          </a:prstGeom>
          <a:solidFill>
            <a:srgbClr val="C89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C89622"/>
                </a:solidFill>
                <a:latin typeface="Calibri"/>
              </a:rPr>
              <a:t>A.E.G.I.S.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FFFFFF"/>
                </a:solidFill>
                <a:latin typeface="Calibri"/>
              </a:rPr>
              <a:t>AI-Enhanced Grant Information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5E0"/>
                </a:solidFill>
                <a:latin typeface="Calibri"/>
              </a:rPr>
              <a:t>A Web-Based Scholarship Management Platform with Integrated Deep Learning
Document Fraud Detection for Central Luzon State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[Your Names Here]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077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CC"/>
                </a:solidFill>
                <a:latin typeface="Calibri"/>
              </a:rPr>
              <a:t>Advisers: L.G.B. Hidalgo, MIT  |  I.G.M. Balmadrid, MIT  |  J.A.J. Barza, 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1868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BBCC"/>
                </a:solidFill>
                <a:latin typeface="Calibri"/>
              </a:rPr>
              <a:t>Department of Information Technology, College of Engineering
Central Luzon State University  •  January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80560"/>
            <a:ext cx="1920240" cy="1005840"/>
          </a:xfrm>
          <a:prstGeom prst="rect">
            <a:avLst/>
          </a:prstGeom>
          <a:solidFill>
            <a:srgbClr val="C89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526280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2B5A"/>
                </a:solidFill>
                <a:latin typeface="Calibri"/>
              </a:rPr>
              <a:t>94.73%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749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B5A"/>
                </a:solidFill>
                <a:latin typeface="Calibri"/>
              </a:rPr>
              <a:t>AI 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4480560"/>
            <a:ext cx="1920240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4526280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4.67/5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50749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UAT 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4480560"/>
            <a:ext cx="1920240" cy="1005840"/>
          </a:xfrm>
          <a:prstGeom prst="rect">
            <a:avLst/>
          </a:prstGeom>
          <a:solidFill>
            <a:srgbClr val="068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4526280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50749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Tests Passed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4480560"/>
            <a:ext cx="192024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526280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+21.5%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0749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Accuracy Boost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6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660196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AABB"/>
                </a:solidFill>
                <a:latin typeface="Calibri"/>
              </a:rPr>
              <a:t>A.E.G.I.S.  |  BSIT Capstone 2  |  CLSU Department of Information Technology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622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Five persistent operational challenges at CLSU OSA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85953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73152" cy="960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A"/>
                </a:solidFill>
                <a:latin typeface="Calibri"/>
              </a:rPr>
              <a:t>📁 Disorganized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Physical storage only — no central digital repository for documents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39112"/>
            <a:ext cx="85953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39112"/>
            <a:ext cx="73152" cy="960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84831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A"/>
                </a:solidFill>
                <a:latin typeface="Calibri"/>
              </a:rPr>
              <a:t>⏱  Slow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96312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Manual paper-based workflow causes delays in scholarship disbursement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18104"/>
            <a:ext cx="85953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18104"/>
            <a:ext cx="73152" cy="960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638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A"/>
                </a:solidFill>
                <a:latin typeface="Calibri"/>
              </a:rPr>
              <a:t>⚠️  Fraud Vulnerability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75304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Tampered COGs submitted — no automated verification system existed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197096"/>
            <a:ext cx="85953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197096"/>
            <a:ext cx="73152" cy="960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4281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A"/>
                </a:solidFill>
                <a:latin typeface="Calibri"/>
              </a:rPr>
              <a:t>📧 Unreliable Communication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54296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Manual email drafting — inconsistent and delayed applicant notifications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276088"/>
            <a:ext cx="85953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5276088"/>
            <a:ext cx="73152" cy="960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321807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A"/>
                </a:solidFill>
                <a:latin typeface="Calibri"/>
              </a:rPr>
              <a:t>📊 No Compliance Reports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73328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No automated generation of CHED/DOST-SEI compliance reports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6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660196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AABB"/>
                </a:solidFill>
                <a:latin typeface="Calibri"/>
              </a:rPr>
              <a:t>A.E.G.I.S.  |  BSIT Capstone 2  |  CLSU Department of Information Technology  |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622"/>
                </a:solidFill>
                <a:latin typeface="Calibri"/>
              </a:rPr>
              <a:t>Research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Five specific objectives — all achieved ✅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85953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143000"/>
            <a:ext cx="5029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161288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SO1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005840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A"/>
                </a:solidFill>
                <a:latin typeface="Calibri"/>
              </a:rPr>
              <a:t>✅ Centralized Scholarship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435608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Full application lifecycle: apply → scan → review → approve/reject → notify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39112"/>
            <a:ext cx="85953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039112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2221992"/>
            <a:ext cx="5029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2240280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SO2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084831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A"/>
                </a:solidFill>
                <a:latin typeface="Calibri"/>
              </a:rPr>
              <a:t>✅ AI-Based COG Verification Module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51460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Fraud probability score with Grad-CAM heatmap visualization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118104"/>
            <a:ext cx="85953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118104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300984"/>
            <a:ext cx="5029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3319272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SO3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163824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A"/>
                </a:solidFill>
                <a:latin typeface="Calibri"/>
              </a:rPr>
              <a:t>✅ Automatic Email Notification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3593592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Status-triggered emails via Brevo SMTP — 98.7% delivery 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197096"/>
            <a:ext cx="85953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197096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" y="4379976"/>
            <a:ext cx="5029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4398264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SO4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4242816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A"/>
                </a:solidFill>
                <a:latin typeface="Calibri"/>
              </a:rPr>
              <a:t>✅ Record Export Feature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4672583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CSV and PDF export for CHED/DOST-SEI compliance reporting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276088"/>
            <a:ext cx="85953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5276088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" y="5458968"/>
            <a:ext cx="5029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5477255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SO5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" y="5321807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A"/>
                </a:solidFill>
                <a:latin typeface="Calibri"/>
              </a:rPr>
              <a:t>✅ ISO/IEC 25010 User Acceptance Testing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" y="5751575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UAT with 7 OSA personnel — overall 4.67/5.00 (Excellent)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6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2880" y="660196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AABB"/>
                </a:solidFill>
                <a:latin typeface="Calibri"/>
              </a:rPr>
              <a:t>A.E.G.I.S.  |  BSIT Capstone 2  |  CLSU Department of Information Technology  |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622"/>
                </a:solidFill>
                <a:latin typeface="Calibri"/>
              </a:rPr>
              <a:t>Research Design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Applied developmental research — SDLC 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859536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64008" cy="841248"/>
          </a:xfrm>
          <a:prstGeom prst="rect">
            <a:avLst/>
          </a:prstGeom>
          <a:solidFill>
            <a:srgbClr val="068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347472" cy="347472"/>
          </a:xfrm>
          <a:prstGeom prst="rect">
            <a:avLst/>
          </a:prstGeom>
          <a:solidFill>
            <a:srgbClr val="068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124712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005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A"/>
                </a:solidFill>
                <a:latin typeface="Calibri"/>
              </a:rPr>
              <a:t>Requirements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173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OSA staff interviews, process mapping, gap identification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92808"/>
            <a:ext cx="859536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892808"/>
            <a:ext cx="64008" cy="841248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2057400"/>
            <a:ext cx="347472" cy="347472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2057400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9385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A"/>
                </a:solidFill>
                <a:latin typeface="Calibri"/>
              </a:rPr>
              <a:t>System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350008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ER diagrams, wireframes, three-tier architecture design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25496"/>
            <a:ext cx="859536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825496"/>
            <a:ext cx="64008" cy="8412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990088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990088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871215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A"/>
                </a:solidFill>
                <a:latin typeface="Calibri"/>
              </a:rPr>
              <a:t>Implementation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282696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Laravel 12 + Flask + ResNet-50 CNN — full stack development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758184"/>
            <a:ext cx="859536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758184"/>
            <a:ext cx="64008" cy="8412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" y="3922776"/>
            <a:ext cx="347472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3922776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80390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A"/>
                </a:solidFill>
                <a:latin typeface="Calibri"/>
              </a:rPr>
              <a:t>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215384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198 PHPUnit assertions + 48 Python AI tests — 100% pass 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690872"/>
            <a:ext cx="859536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4690872"/>
            <a:ext cx="64008" cy="841248"/>
          </a:xfrm>
          <a:prstGeom prst="rect">
            <a:avLst/>
          </a:prstGeom>
          <a:solidFill>
            <a:srgbClr val="C89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" y="4855464"/>
            <a:ext cx="347472" cy="347472"/>
          </a:xfrm>
          <a:prstGeom prst="rect">
            <a:avLst/>
          </a:prstGeom>
          <a:solidFill>
            <a:srgbClr val="C89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4855464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7365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A"/>
                </a:solidFill>
                <a:latin typeface="Calibri"/>
              </a:rPr>
              <a:t>UAT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14807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ISO/IEC 25010 with 7 OSA personnel, 20 tasks each, 30-day period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623559"/>
            <a:ext cx="859536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5623559"/>
            <a:ext cx="64008" cy="8412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4048" y="5788151"/>
            <a:ext cx="347472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5788151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6692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A"/>
                </a:solidFill>
                <a:latin typeface="Calibri"/>
              </a:rPr>
              <a:t>Evaluation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6080759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Statistical analysis of UAT scores, AI metrics, performance results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6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2880" y="660196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AABB"/>
                </a:solidFill>
                <a:latin typeface="Calibri"/>
              </a:rPr>
              <a:t>A.E.G.I.S.  |  BSIT Capstone 2  |  CLSU Department of Information Technology  |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622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Three-tier web application with AI microservice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2697480" cy="2560320"/>
          </a:xfrm>
          <a:prstGeom prst="rect">
            <a:avLst/>
          </a:prstGeom>
          <a:solidFill>
            <a:srgbClr val="068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PRESENTATION
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2514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2514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Blade + Alpine.js
Tailwind CSS
PWA + Offline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79" y="960120"/>
            <a:ext cx="2697480" cy="256032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024128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APPLICATION
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691640"/>
            <a:ext cx="2514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783080"/>
            <a:ext cx="2514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Laravel 12 (PHP 8.2)
MVC + Services
Job Queue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960120"/>
            <a:ext cx="2697480" cy="2560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79" y="1024128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
LAYER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79" y="1691640"/>
            <a:ext cx="2514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79" y="1783080"/>
            <a:ext cx="2514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PostgreSQL (Supabase)
Cloudflare R2 Storage
Redis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1965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89622"/>
                </a:solidFill>
                <a:latin typeface="Calibri"/>
              </a:rPr>
              <a:t>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1965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89622"/>
                </a:solidFill>
                <a:latin typeface="Calibri"/>
              </a:rPr>
              <a:t>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3794760"/>
            <a:ext cx="5486400" cy="1645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385876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🤖  AI MICROSERVICE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3434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Flask + Python 3.11  •  ResNet-50 CNN  •  V1/V2/V3 Pipeline
ELA  •  Grad-CAM  •  Clone-Stamp Detection  •  7,891 training images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49300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⟺ HTTP/JSON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6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" y="660196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AABB"/>
                </a:solidFill>
                <a:latin typeface="Calibri"/>
              </a:rPr>
              <a:t>A.E.G.I.S.  |  BSIT Capstone 2  |  CLSU Department of Information Technology  |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622"/>
                </a:solidFill>
                <a:latin typeface="Calibri"/>
              </a:rPr>
              <a:t>AI Fraud Detection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Novel triple-pipeline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2697480" cy="3977639"/>
          </a:xfrm>
          <a:prstGeom prst="rect">
            <a:avLst/>
          </a:prstGeom>
          <a:solidFill>
            <a:srgbClr val="068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V1  Baseline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645920"/>
            <a:ext cx="2487168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75564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A"/>
                </a:solidFill>
                <a:latin typeface="Calibri"/>
              </a:rPr>
              <a:t>  1. Error Level Analysis (ELA)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2423160"/>
            <a:ext cx="2487168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53288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A"/>
                </a:solidFill>
                <a:latin typeface="Calibri"/>
              </a:rPr>
              <a:t>  2. ResNet-50 Extraction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3200400"/>
            <a:ext cx="2487168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331012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A"/>
                </a:solidFill>
                <a:latin typeface="Calibri"/>
              </a:rPr>
              <a:t>  3. Grad-CAM Heatmap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3977639"/>
            <a:ext cx="2487168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408736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A"/>
                </a:solidFill>
                <a:latin typeface="Calibri"/>
              </a:rPr>
              <a:t>  4. Fraud 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79" y="960120"/>
            <a:ext cx="2697480" cy="3977639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100584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V2  Enhanced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4408" y="1645920"/>
            <a:ext cx="2487168" cy="65836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39" y="175564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1. V1 components 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64408" y="2423160"/>
            <a:ext cx="2487168" cy="65836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39" y="253288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2. Clone-Stamp Detection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64408" y="3200400"/>
            <a:ext cx="2487168" cy="65836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39" y="331012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3. Weighted Fusion Scoring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64408" y="3977639"/>
            <a:ext cx="2487168" cy="658368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39" y="408736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4. Multi-factor Class.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960120"/>
            <a:ext cx="2697480" cy="397763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79" y="100584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V3  Deep Forensic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45920"/>
            <a:ext cx="2487168" cy="658368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175564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1. V2 components 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44768" y="2423160"/>
            <a:ext cx="2487168" cy="658368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253288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2. Multi-layer Heatmaps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4768" y="3200400"/>
            <a:ext cx="2487168" cy="658368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331012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3. Pixel Anomaly Mapping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44768" y="3977639"/>
            <a:ext cx="2487168" cy="658368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408736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4. Deep Report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120640"/>
            <a:ext cx="8595360" cy="73152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2303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9622"/>
                </a:solidFill>
                <a:latin typeface="Calibri"/>
              </a:rPr>
              <a:t>OUTPUT: Fraud Probability (0–100%)  •  Classification (Authentic / Tampered)  •  Heatmap  •  Anomaly Indicators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6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2880" y="660196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AABB"/>
                </a:solidFill>
                <a:latin typeface="Calibri"/>
              </a:rPr>
              <a:t>A.E.G.I.S.  |  BSIT Capstone 2  |  CLSU Department of Information Technology  |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622"/>
                </a:solidFill>
                <a:latin typeface="Calibri"/>
              </a:rP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Results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874519"/>
            <a:ext cx="4572000" cy="54864"/>
          </a:xfrm>
          <a:prstGeom prst="rect">
            <a:avLst/>
          </a:prstGeom>
          <a:solidFill>
            <a:srgbClr val="C89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0116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D5E0"/>
                </a:solidFill>
                <a:latin typeface="Calibri"/>
              </a:rPr>
              <a:t>All five objectives achieved — all metrics exceed pre-defined targets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1920240" cy="1005840"/>
          </a:xfrm>
          <a:prstGeom prst="rect">
            <a:avLst/>
          </a:prstGeom>
          <a:solidFill>
            <a:srgbClr val="C89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2B5A"/>
                </a:solidFill>
                <a:latin typeface="Calibri"/>
              </a:rPr>
              <a:t>94.73%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B5A"/>
                </a:solidFill>
                <a:latin typeface="Calibri"/>
              </a:rPr>
              <a:t>AI 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2926080"/>
            <a:ext cx="1920240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971800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4.67/5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5204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UAT Score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2926080"/>
            <a:ext cx="1920240" cy="1005840"/>
          </a:xfrm>
          <a:prstGeom prst="rect">
            <a:avLst/>
          </a:prstGeom>
          <a:solidFill>
            <a:srgbClr val="068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971800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+21.5%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5204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Accuracy Boost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926080"/>
            <a:ext cx="192024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971800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−38.7%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5204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Time Saved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60520"/>
            <a:ext cx="1920240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06240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198/198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548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Tests Passed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4160520"/>
            <a:ext cx="1920240" cy="1005840"/>
          </a:xfrm>
          <a:prstGeom prst="rect">
            <a:avLst/>
          </a:prstGeom>
          <a:solidFill>
            <a:srgbClr val="068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68880" y="4206240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99.2%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7548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Uptime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4160520"/>
            <a:ext cx="1920240" cy="1005840"/>
          </a:xfrm>
          <a:prstGeom prst="rect">
            <a:avLst/>
          </a:prstGeom>
          <a:solidFill>
            <a:srgbClr val="C89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4206240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2B5A"/>
                </a:solidFill>
                <a:latin typeface="Calibri"/>
              </a:rPr>
              <a:t>98.7%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7548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B5A"/>
                </a:solidFill>
                <a:latin typeface="Calibri"/>
              </a:rPr>
              <a:t>Email Delivery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4160520"/>
            <a:ext cx="1920240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206240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−75%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7548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False Negs.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6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" y="660196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AABB"/>
                </a:solidFill>
                <a:latin typeface="Calibri"/>
              </a:rPr>
              <a:t>A.E.G.I.S.  |  BSIT Capstone 2  |  CLSU Department of Information Technology  |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622"/>
                </a:solidFill>
                <a:latin typeface="Calibri"/>
              </a:rPr>
              <a:t>AI Module 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All metrics exceed pre-defined targets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87552"/>
            <a:ext cx="2651760" cy="438912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033271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987552"/>
            <a:ext cx="1554480" cy="438912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2112" y="1033271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Achieved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987552"/>
            <a:ext cx="1554480" cy="438912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19472" y="1033271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987552"/>
            <a:ext cx="2148840" cy="438912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033271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Δ vs Target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463040"/>
            <a:ext cx="265176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554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1463040"/>
            <a:ext cx="155448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82112" y="15544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94.73%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1463040"/>
            <a:ext cx="155448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9472" y="15544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≥ 90.00%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463040"/>
            <a:ext cx="214884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155448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+4.73%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03120"/>
            <a:ext cx="2651760" cy="58521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2194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Precision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2103120"/>
            <a:ext cx="1554480" cy="58521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82112" y="21945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92.18%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2103120"/>
            <a:ext cx="1554480" cy="58521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19472" y="21945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≥ 85.00%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103120"/>
            <a:ext cx="2148840" cy="58521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2" y="219456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+7.18%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743200"/>
            <a:ext cx="265176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2834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Recall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2743200"/>
            <a:ext cx="155448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82112" y="28346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91.45%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2743200"/>
            <a:ext cx="155448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19472" y="28346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≥ 85.00%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2743200"/>
            <a:ext cx="214884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56832" y="28346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+6.45%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383279"/>
            <a:ext cx="2651760" cy="58521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" y="3474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F1-Score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3383279"/>
            <a:ext cx="1554480" cy="58521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82112" y="34747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91.81%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46320" y="3383279"/>
            <a:ext cx="1554480" cy="58521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19472" y="34747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≥ 85.00%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3383279"/>
            <a:ext cx="2148840" cy="58521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56832" y="347472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+6.81%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023360"/>
            <a:ext cx="265176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" y="4114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False Negative Rate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08960" y="4023360"/>
            <a:ext cx="155448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82112" y="41148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8.55%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4023360"/>
            <a:ext cx="155448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19472" y="41148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≤ 15.00%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0" y="4023360"/>
            <a:ext cx="214884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56832" y="411480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−6.45%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663440"/>
            <a:ext cx="2651760" cy="58521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7472" y="47548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False Positive Rate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08960" y="4663440"/>
            <a:ext cx="1554480" cy="58521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82112" y="4754879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7.82%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46320" y="4663440"/>
            <a:ext cx="1554480" cy="58521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19472" y="4754879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≤ 20.00%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83680" y="4663440"/>
            <a:ext cx="2148840" cy="58521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56832" y="4754879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−12.18%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5303519"/>
            <a:ext cx="265176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7472" y="539495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COG-Specific Acc.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108960" y="5303519"/>
            <a:ext cx="155448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182112" y="5394959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622"/>
                </a:solidFill>
                <a:latin typeface="Calibri"/>
              </a:rPr>
              <a:t>96.67%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46320" y="5303519"/>
            <a:ext cx="155448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19472" y="5394959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N/A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83680" y="5303519"/>
            <a:ext cx="214884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56832" y="5394959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9622"/>
                </a:solidFill>
                <a:latin typeface="Calibri"/>
              </a:rPr>
              <a:t>🏆 Best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6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82880" y="660196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AABB"/>
                </a:solidFill>
                <a:latin typeface="Calibri"/>
              </a:rPr>
              <a:t>A.E.G.I.S.  |  BSIT Capstone 2  |  CLSU Department of Information Technology  | 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622"/>
                </a:solidFill>
                <a:latin typeface="Calibri"/>
              </a:rPr>
              <a:t>Confusion Matrix — AI Classification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1,184 test documents evaluated</a:t>
            </a:r>
          </a:p>
        </p:txBody>
      </p:sp>
      <p:pic>
        <p:nvPicPr>
          <p:cNvPr id="5" name="Picture 4" descr="Figure_14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029200" cy="48463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0" y="1051560"/>
            <a:ext cx="338328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1051560"/>
            <a:ext cx="64008" cy="1143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96128" y="1097280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A34A"/>
                </a:solidFill>
                <a:latin typeface="Calibri"/>
              </a:rPr>
              <a:t>547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6128" y="16184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A"/>
                </a:solidFill>
                <a:latin typeface="Calibri"/>
              </a:rPr>
              <a:t>True Negative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96128" y="1892807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Correctly identified AUTHENTIC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2331720"/>
            <a:ext cx="338328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2331720"/>
            <a:ext cx="64008" cy="1143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96128" y="2377439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A34A"/>
                </a:solidFill>
                <a:latin typeface="Calibri"/>
              </a:rPr>
              <a:t>541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96128" y="28986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A"/>
                </a:solidFill>
                <a:latin typeface="Calibri"/>
              </a:rPr>
              <a:t>True Positive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317296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Correctly identified TAMPERED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3611879"/>
            <a:ext cx="338328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3611879"/>
            <a:ext cx="64008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6128" y="3657599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  <a:latin typeface="Calibri"/>
              </a:rPr>
              <a:t>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96128" y="4178807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A"/>
                </a:solidFill>
                <a:latin typeface="Calibri"/>
              </a:rPr>
              <a:t>False Positive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96128" y="445312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Authentic → wrongly flagged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4892040"/>
            <a:ext cx="338328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0" y="4892040"/>
            <a:ext cx="64008" cy="1143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96128" y="4937759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2626"/>
                </a:solidFill>
                <a:latin typeface="Calibri"/>
              </a:rPr>
              <a:t>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96128" y="54589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A"/>
                </a:solidFill>
                <a:latin typeface="Calibri"/>
              </a:rPr>
              <a:t>False Negative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6128" y="573328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Tampered → MISSED (critical)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6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660196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AABB"/>
                </a:solidFill>
                <a:latin typeface="Calibri"/>
              </a:rPr>
              <a:t>A.E.G.I.S.  |  BSIT Capstone 2  |  CLSU Department of Information Technology  | 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622"/>
                </a:solidFill>
                <a:latin typeface="Calibri"/>
              </a:rPr>
              <a:t>ROC Curve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AUC = 0.968 — Excellent discrimination ability</a:t>
            </a:r>
          </a:p>
        </p:txBody>
      </p:sp>
      <p:pic>
        <p:nvPicPr>
          <p:cNvPr id="5" name="Picture 4" descr="Figure_15_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029200" cy="48463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0" y="1097280"/>
            <a:ext cx="3383280" cy="132588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32120" y="1170432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89622"/>
                </a:solidFill>
                <a:latin typeface="Calibri"/>
              </a:rPr>
              <a:t>AUC = 0.968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1783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6A34A"/>
                </a:solidFill>
                <a:latin typeface="Calibri"/>
              </a:rPr>
              <a:t>EXCELLENT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6060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A"/>
                </a:solidFill>
                <a:latin typeface="Calibri"/>
              </a:rPr>
              <a:t>• AUC &gt; 0.9 = Excellent discrimination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26440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A"/>
                </a:solidFill>
                <a:latin typeface="Calibri"/>
              </a:rPr>
              <a:t>• Random classifier AUC = 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92277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A"/>
                </a:solidFill>
                <a:latin typeface="Calibri"/>
              </a:rPr>
              <a:t>• Perfect classifier AUC = 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458114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A"/>
                </a:solidFill>
                <a:latin typeface="Calibri"/>
              </a:rPr>
              <a:t>• Our model at 0.968 is near-perfect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523951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A"/>
                </a:solidFill>
                <a:latin typeface="Calibri"/>
              </a:rPr>
              <a:t>• Robust across all decision thresholds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897879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A"/>
                </a:solidFill>
                <a:latin typeface="Calibri"/>
              </a:rPr>
              <a:t>• No single threshold dependency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6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" y="660196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AABB"/>
                </a:solidFill>
                <a:latin typeface="Calibri"/>
              </a:rPr>
              <a:t>A.E.G.I.S.  |  BSIT Capstone 2  |  CLSU Department of Information Technology  | 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622"/>
                </a:solidFill>
                <a:latin typeface="Calibri"/>
              </a:rPr>
              <a:t>Accuracy Comparison with Related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A.E.G.I.S. competitive with state-of-the-art</a:t>
            </a:r>
          </a:p>
        </p:txBody>
      </p:sp>
      <p:pic>
        <p:nvPicPr>
          <p:cNvPr id="5" name="Picture 4" descr="Figure_16_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8595360" cy="48463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6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0196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AABB"/>
                </a:solidFill>
                <a:latin typeface="Calibri"/>
              </a:rPr>
              <a:t>A.E.G.I.S.  |  BSIT Capstone 2  |  CLSU Department of Information Technology  | 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622"/>
                </a:solidFill>
                <a:latin typeface="Calibri"/>
              </a:rPr>
              <a:t>User Acceptance Testing — ISO/IEC 25010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7 OSA personnel, 20 tasks, 5 quality dimensions</a:t>
            </a:r>
          </a:p>
        </p:txBody>
      </p:sp>
      <p:pic>
        <p:nvPicPr>
          <p:cNvPr id="5" name="Picture 4" descr="Figure_17_ISO_25010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4389120" cy="4754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846320" y="1097280"/>
            <a:ext cx="4023360" cy="475488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92040" y="115214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Quality Dimension Scores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609344"/>
            <a:ext cx="40233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70078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A"/>
                </a:solidFill>
                <a:latin typeface="Calibri"/>
              </a:rPr>
              <a:t>Functional Suitability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66420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A34A"/>
                </a:solidFill>
                <a:latin typeface="Calibri"/>
              </a:rPr>
              <a:t>4.74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2432304"/>
            <a:ext cx="4023360" cy="74980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252374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A"/>
                </a:solidFill>
                <a:latin typeface="Calibri"/>
              </a:rPr>
              <a:t>Usability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48716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A34A"/>
                </a:solidFill>
                <a:latin typeface="Calibri"/>
              </a:rPr>
              <a:t>4.60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3255264"/>
            <a:ext cx="40233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334670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A"/>
                </a:solidFill>
                <a:latin typeface="Calibri"/>
              </a:rPr>
              <a:t>Reliability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31012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A34A"/>
                </a:solidFill>
                <a:latin typeface="Calibri"/>
              </a:rPr>
              <a:t>4.66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4078224"/>
            <a:ext cx="4023360" cy="74980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4169663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A"/>
                </a:solidFill>
                <a:latin typeface="Calibri"/>
              </a:rPr>
              <a:t>Performance Efficiency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133087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A34A"/>
                </a:solidFill>
                <a:latin typeface="Calibri"/>
              </a:rPr>
              <a:t>4.60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4901184"/>
            <a:ext cx="40233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499262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A"/>
                </a:solidFill>
                <a:latin typeface="Calibri"/>
              </a:rPr>
              <a:t>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95604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A34A"/>
                </a:solidFill>
                <a:latin typeface="Calibri"/>
              </a:rPr>
              <a:t>4.74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5742432"/>
            <a:ext cx="4023360" cy="804672"/>
          </a:xfrm>
          <a:prstGeom prst="rect">
            <a:avLst/>
          </a:prstGeom>
          <a:solidFill>
            <a:srgbClr val="C89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583387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A"/>
                </a:solidFill>
                <a:latin typeface="Calibri"/>
              </a:rPr>
              <a:t>OVERALL:  4.67 / 5.00  (EXCELLENT)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618134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B5A"/>
                </a:solidFill>
                <a:latin typeface="Calibri"/>
              </a:rPr>
              <a:t>Exceeded threshold by 16.75%  •  100% recommend deployment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6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660196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AABB"/>
                </a:solidFill>
                <a:latin typeface="Calibri"/>
              </a:rPr>
              <a:t>A.E.G.I.S.  |  BSIT Capstone 2  |  CLSU Department of Information Technology  | 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622"/>
                </a:solidFill>
                <a:latin typeface="Calibri"/>
              </a:rPr>
              <a:t>Human Performance Enhancement via AI Assistance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Measurable improvements across all reviewer metrics</a:t>
            </a:r>
          </a:p>
        </p:txBody>
      </p:sp>
      <p:pic>
        <p:nvPicPr>
          <p:cNvPr id="5" name="Picture 4" descr="Figure_19_AI_Assiste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029200" cy="4754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0" y="1051560"/>
            <a:ext cx="338328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0" y="11155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A"/>
                </a:solidFill>
                <a:latin typeface="Calibri"/>
              </a:rPr>
              <a:t>Review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490472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Before: 73.3%  →  After: 94.8%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828800"/>
            <a:ext cx="192024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23560" y="185623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+21.5 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2350008"/>
            <a:ext cx="338328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2414015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A"/>
                </a:solidFill>
                <a:latin typeface="Calibri"/>
              </a:rPr>
              <a:t>Review Time / Doc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788920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Before: 142 s  →  After: 87 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3127248"/>
            <a:ext cx="192024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31546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−38.7%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3648456"/>
            <a:ext cx="338328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3712463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A"/>
                </a:solidFill>
                <a:latin typeface="Calibri"/>
              </a:rPr>
              <a:t>Reviewer Confidence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4087368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Before: 2.9/5  →  After: 4.3/5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4425696"/>
            <a:ext cx="192024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4453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+48.3%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4946904"/>
            <a:ext cx="338328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50109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A"/>
                </a:solidFill>
                <a:latin typeface="Calibri"/>
              </a:rPr>
              <a:t>False Negatives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538581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Before: 4/15  →  After: 1/15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77840" y="5724144"/>
            <a:ext cx="192024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5751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−75.0%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6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660196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AABB"/>
                </a:solidFill>
                <a:latin typeface="Calibri"/>
              </a:rPr>
              <a:t>A.E.G.I.S.  |  BSIT Capstone 2  |  CLSU Department of Information Technology  | 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622"/>
                </a:solidFill>
                <a:latin typeface="Calibri"/>
              </a:rPr>
              <a:t>System Testing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100% pass rate — zero defects detected</a:t>
            </a:r>
          </a:p>
        </p:txBody>
      </p:sp>
      <p:pic>
        <p:nvPicPr>
          <p:cNvPr id="5" name="Picture 4" descr="Figure_Test_Suite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02920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394960" y="1051560"/>
            <a:ext cx="34747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68112" y="11247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A"/>
                </a:solidFill>
                <a:latin typeface="Calibri"/>
              </a:rPr>
              <a:t>PHPUnit — Laravel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68112" y="15270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6A34A"/>
                </a:solidFill>
                <a:latin typeface="Calibri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8112" y="20116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198/198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2423160"/>
            <a:ext cx="3474720" cy="12344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68112" y="24963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A"/>
                </a:solidFill>
                <a:latin typeface="Calibri"/>
              </a:rPr>
              <a:t>Python AI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8112" y="28986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6A34A"/>
                </a:solidFill>
                <a:latin typeface="Calibri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8112" y="33832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48/48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4960" y="3794760"/>
            <a:ext cx="34747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68112" y="38679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A"/>
                </a:solidFill>
                <a:latin typeface="Calibri"/>
              </a:rPr>
              <a:t>Security Vulnerabilities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8112" y="42702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6A34A"/>
                </a:solidFill>
                <a:latin typeface="Calibri"/>
              </a:rPr>
              <a:t>None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8112" y="47548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0 found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5166360"/>
            <a:ext cx="3474720" cy="12344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68112" y="52395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A"/>
                </a:solidFill>
                <a:latin typeface="Calibri"/>
              </a:rPr>
              <a:t>UAT Task Completion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8112" y="56418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6A34A"/>
                </a:solidFill>
                <a:latin typeface="Calibri"/>
              </a:rPr>
              <a:t>99.3%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8112" y="61264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139/140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6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660196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AABB"/>
                </a:solidFill>
                <a:latin typeface="Calibri"/>
              </a:rPr>
              <a:t>A.E.G.I.S.  |  BSIT Capstone 2  |  CLSU Department of Information Technology  | 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622"/>
                </a:solidFill>
                <a:latin typeface="Calibri"/>
              </a:rPr>
              <a:t>System Performance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All operations exceed performance targets</a:t>
            </a:r>
          </a:p>
        </p:txBody>
      </p:sp>
      <p:pic>
        <p:nvPicPr>
          <p:cNvPr id="5" name="Picture 4" descr="Figure_Performance_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029200" cy="4754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394960" y="1051560"/>
            <a:ext cx="34747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68112" y="1143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A"/>
                </a:solidFill>
                <a:latin typeface="Calibri"/>
              </a:rPr>
              <a:t>AI Analysis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106424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6A34A"/>
                </a:solidFill>
                <a:latin typeface="Calibri"/>
              </a:rPr>
              <a:t>2.3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8112" y="15087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target: &lt; 5.0 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1856231"/>
            <a:ext cx="3474720" cy="7315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68112" y="19476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A"/>
                </a:solidFill>
                <a:latin typeface="Calibri"/>
              </a:rPr>
              <a:t>AI Analysis V3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911095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6A34A"/>
                </a:solidFill>
                <a:latin typeface="Calibri"/>
              </a:rPr>
              <a:t>4.6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8112" y="231343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target: &lt; 8.0 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4960" y="2660904"/>
            <a:ext cx="34747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68112" y="27523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A"/>
                </a:solidFill>
                <a:latin typeface="Calibri"/>
              </a:rPr>
              <a:t>Page Load (avg)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715768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6A34A"/>
                </a:solidFill>
                <a:latin typeface="Calibri"/>
              </a:rPr>
              <a:t>0.94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8112" y="311810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target: &lt; 2.0 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3465576"/>
            <a:ext cx="3474720" cy="7315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68112" y="35570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A"/>
                </a:solidFill>
                <a:latin typeface="Calibri"/>
              </a:rPr>
              <a:t>PDF 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520440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6A34A"/>
                </a:solidFill>
                <a:latin typeface="Calibri"/>
              </a:rPr>
              <a:t>3.2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8112" y="3922776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target: &lt; 10.0 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4270248"/>
            <a:ext cx="34747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68112" y="43616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A"/>
                </a:solidFill>
                <a:latin typeface="Calibri"/>
              </a:rPr>
              <a:t>Email Delivery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325112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6A34A"/>
                </a:solidFill>
                <a:latin typeface="Calibri"/>
              </a:rPr>
              <a:t>98.7%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68112" y="472744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target: ≥ 95%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60" y="5074920"/>
            <a:ext cx="3474720" cy="7315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68112" y="5166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A"/>
                </a:solidFill>
                <a:latin typeface="Calibri"/>
              </a:rPr>
              <a:t>System Uptime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5129784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6A34A"/>
                </a:solidFill>
                <a:latin typeface="Calibri"/>
              </a:rPr>
              <a:t>99.2%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68112" y="55321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target: ≥ 99%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94960" y="5879592"/>
            <a:ext cx="34747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68112" y="5971031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A"/>
                </a:solidFill>
                <a:latin typeface="Calibri"/>
              </a:rPr>
              <a:t>False Neg.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5934455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6A34A"/>
                </a:solidFill>
                <a:latin typeface="Calibri"/>
              </a:rPr>
              <a:t>8.55%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8112" y="633679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target: ≤ 15%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6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" y="660196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AABB"/>
                </a:solidFill>
                <a:latin typeface="Calibri"/>
              </a:rPr>
              <a:t>A.E.G.I.S.  |  BSIT Capstone 2  |  CLSU Department of Information Technology  | 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622"/>
                </a:solidFill>
                <a:latin typeface="Calibri"/>
              </a:rPr>
              <a:t>Achievement of Research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All 5 specific objectives fully achieved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87552"/>
            <a:ext cx="859536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87552"/>
            <a:ext cx="64008" cy="9875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152144"/>
            <a:ext cx="530352" cy="5303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170432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SO1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0332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A"/>
                </a:solidFill>
                <a:latin typeface="Calibri"/>
              </a:rPr>
              <a:t>Centralized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490472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✅ Full lifecycle: apply → AI scan → review → approve → notify → export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84832"/>
            <a:ext cx="859536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084832"/>
            <a:ext cx="64008" cy="9875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2249424"/>
            <a:ext cx="530352" cy="5303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2267712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SO2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A"/>
                </a:solidFill>
                <a:latin typeface="Calibri"/>
              </a:rPr>
              <a:t>AI Fraud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587752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✅ 94.73% accuracy; 96.67% COG-specific; Grad-CAM heatmaps operational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182112"/>
            <a:ext cx="859536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182112"/>
            <a:ext cx="64008" cy="9875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346704"/>
            <a:ext cx="530352" cy="5303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3364992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SO3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278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A"/>
                </a:solidFill>
                <a:latin typeface="Calibri"/>
              </a:rPr>
              <a:t>Email Notifications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685032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✅ 98.7% delivery; status-triggered; Brevo SMTP integrated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279392"/>
            <a:ext cx="859536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279392"/>
            <a:ext cx="64008" cy="9875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" y="4443983"/>
            <a:ext cx="530352" cy="5303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4462272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SO4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3251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A"/>
                </a:solidFill>
                <a:latin typeface="Calibri"/>
              </a:rPr>
              <a:t>Record Export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782312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✅ CSV + PDF for all 10 audit log types; CHED/DOST-SEI compliant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376672"/>
            <a:ext cx="859536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5376672"/>
            <a:ext cx="64008" cy="9875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" y="5541264"/>
            <a:ext cx="530352" cy="5303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5559552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SO5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42239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A"/>
                </a:solidFill>
                <a:latin typeface="Calibri"/>
              </a:rPr>
              <a:t>ISO/IEC 25010 UAT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879592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✅ 4.67/5.00 overall; all 5 dimensions Excellent; 100% recommend deployment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6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2880" y="660196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AABB"/>
                </a:solidFill>
                <a:latin typeface="Calibri"/>
              </a:rPr>
              <a:t>A.E.G.I.S.  |  BSIT Capstone 2  |  CLSU Department of Information Technology  | 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622"/>
                </a:solidFill>
                <a:latin typeface="Calibri"/>
              </a:rPr>
              <a:t>Technical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Novel innovations for Philippine HEI digital transformation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87552"/>
            <a:ext cx="8595360" cy="100584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594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89622"/>
                </a:solidFill>
                <a:latin typeface="Calibri"/>
              </a:rPr>
              <a:t>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033272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22"/>
                </a:solidFill>
                <a:latin typeface="Calibri"/>
              </a:rPr>
              <a:t>Triple-Pipeline AI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90472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First V1/V2/V3 fraud detection pipeline with escalating forensic depth in a Philippine HEI context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03120"/>
            <a:ext cx="8595360" cy="10058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304288"/>
            <a:ext cx="594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89622"/>
                </a:solidFill>
                <a:latin typeface="Calibri"/>
              </a:rPr>
              <a:t>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148839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22"/>
                </a:solidFill>
                <a:latin typeface="Calibri"/>
              </a:rPr>
              <a:t>Domain-Adapted COG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06039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400 synthetic CLSU COGs + CASIA v2.0 (7,891 total) — first Philippine academic image forgery dataset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18688"/>
            <a:ext cx="8595360" cy="100584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419856"/>
            <a:ext cx="594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89622"/>
                </a:solidFill>
                <a:latin typeface="Calibri"/>
              </a:rPr>
              <a:t>🏛️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264408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22"/>
                </a:solidFill>
                <a:latin typeface="Calibri"/>
              </a:rPr>
              <a:t>First Integrated HEI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721608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First Philippine system combining scholarship management + AI doc verification + automated notification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334256"/>
            <a:ext cx="8595360" cy="10058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535424"/>
            <a:ext cx="594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89622"/>
                </a:solidFill>
                <a:latin typeface="Calibri"/>
              </a:rPr>
              <a:t>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379976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22"/>
                </a:solidFill>
                <a:latin typeface="Calibri"/>
              </a:rPr>
              <a:t>Enterprise Security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837176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MFA + AES-256 + RBAC + rate limiting + IDOR prevention + full audit trail — zero vulnerabilities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449824"/>
            <a:ext cx="8595360" cy="100584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5650992"/>
            <a:ext cx="594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89622"/>
                </a:solidFill>
                <a:latin typeface="Calibri"/>
              </a:rPr>
              <a:t>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495544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22"/>
                </a:solidFill>
                <a:latin typeface="Calibri"/>
              </a:rPr>
              <a:t>Replicable Open-Source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952744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Zero-licensing-cost stack replicable by any Philippine SUC — aligns with R.A. 11032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6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660196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AABB"/>
                </a:solidFill>
                <a:latin typeface="Calibri"/>
              </a:rPr>
              <a:t>A.E.G.I.S.  |  BSIT Capstone 2  |  CLSU Department of Information Technology  | 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622"/>
                </a:solidFill>
                <a:latin typeface="Calibri"/>
              </a:rPr>
              <a:t>Limitations of the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Acknowledged constraints and boundary conditions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87552"/>
            <a:ext cx="85953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87552"/>
            <a:ext cx="64008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33272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A"/>
                </a:solidFill>
                <a:latin typeface="Calibri"/>
              </a:rPr>
              <a:t>L1. Synthetic Training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9047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400 CLSU COG documents were synthetically generated. Performance on real-world documents may vary slightly. Mitigated by 96.67% COG-specific validation accuracy.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77440"/>
            <a:ext cx="85953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377440"/>
            <a:ext cx="64008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2316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A"/>
                </a:solidFill>
                <a:latin typeface="Calibri"/>
              </a:rPr>
              <a:t>L2. Small UAT Sample (N=7)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8036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Convenience sample from 1 institution. Findings demonstrate strong acceptability but may not generalize to all Philippine HEI contexts without replication.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67328"/>
            <a:ext cx="85953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767328"/>
            <a:ext cx="64008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1304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A"/>
                </a:solidFill>
                <a:latin typeface="Calibri"/>
              </a:rPr>
              <a:t>L3. AI Black-Box Transparency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70248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Grad-CAM provides visual explanations but internal CNN weights are not interpretable by non-technical reviewers without additional training.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157216"/>
            <a:ext cx="85953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5157216"/>
            <a:ext cx="64008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202936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A"/>
                </a:solidFill>
                <a:latin typeface="Calibri"/>
              </a:rPr>
              <a:t>L4. Single-Institution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60136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Workflows are tailored to CLSU OSA procedures. Adaptation and re-training would be required for institutions with different scholarship processes.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6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660196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AABB"/>
                </a:solidFill>
                <a:latin typeface="Calibri"/>
              </a:rPr>
              <a:t>A.E.G.I.S.  |  BSIT Capstone 2  |  CLSU Department of Information Technology  | 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32004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622"/>
                </a:solidFill>
                <a:latin typeface="Calibri"/>
              </a:rPr>
              <a:t>SECTION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572768"/>
            <a:ext cx="4572000" cy="54864"/>
          </a:xfrm>
          <a:prstGeom prst="rect">
            <a:avLst/>
          </a:prstGeom>
          <a:solidFill>
            <a:srgbClr val="C89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✦ A.E.G.I.S. successfully resolves all 5 identified OSA operational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59152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5E0"/>
                </a:solidFill>
                <a:latin typeface="Calibri"/>
              </a:rPr>
              <a:t>✦ AI fraud detection: 94.73% accuracy — exceeds 90% target by 4.73 percentage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80944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✦ Automated workflow: 38.7% time reduction, 21.5% human accuracy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02736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5E0"/>
                </a:solidFill>
                <a:latin typeface="Calibri"/>
              </a:rPr>
              <a:t>✦ ISO/IEC 25010 UAT: 4.67/5.00 overall — all 5 quality dimensions 'Excellent'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24528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✦ 100% of OSA personnel recommend immediate production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846320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5E0"/>
                </a:solidFill>
                <a:latin typeface="Calibri"/>
              </a:rPr>
              <a:t>✦ Zero security vulnerabilities; 99.2% uptime over 30-day testing 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468112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✦ Demonstrates AI-augmented public service delivery is both efficient and secure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089904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5E0"/>
                </a:solidFill>
                <a:latin typeface="Calibri"/>
              </a:rPr>
              <a:t>✦ Provides replicable model for Philippine SUC digital transformation (R.A. 11032)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6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AABB"/>
                </a:solidFill>
                <a:latin typeface="Calibri"/>
              </a:rPr>
              <a:t>A.E.G.I.S.  |  BSIT Capstone 2  |  CLSU Department of Information Technology  | 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622"/>
                </a:solidFill>
                <a:latin typeface="Calibri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Short-term through long-term action items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87552"/>
            <a:ext cx="8595360" cy="10241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70432"/>
            <a:ext cx="566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04241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IMMEDIATE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517904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Deploy to CLSU OSA production; provide onboarding training for 7 OSA staff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30552"/>
            <a:ext cx="8595360" cy="1024128"/>
          </a:xfrm>
          <a:prstGeom prst="rect">
            <a:avLst/>
          </a:prstGeom>
          <a:solidFill>
            <a:srgbClr val="068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313432"/>
            <a:ext cx="566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18541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SHORT-TERM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660904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Add bulk approval features and SMS/push notifications for students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73552"/>
            <a:ext cx="8595360" cy="1024128"/>
          </a:xfrm>
          <a:prstGeom prst="rect">
            <a:avLst/>
          </a:prstGeom>
          <a:solidFill>
            <a:srgbClr val="C89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456432"/>
            <a:ext cx="566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32841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MEDIUM-TERM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803904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Integrate with CLSU Student Information System for real-time grade verification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416552"/>
            <a:ext cx="8595360" cy="10241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599432"/>
            <a:ext cx="566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47141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ANNUAL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946904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Retrain AI model with real COG documents collected from annual OSA operations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559552"/>
            <a:ext cx="8595360" cy="10241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5742432"/>
            <a:ext cx="566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561441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LONG-TERM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6089904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Open-source framework for adoption by other Philippine State Universities (SUCs)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6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660196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AABB"/>
                </a:solidFill>
                <a:latin typeface="Calibri"/>
              </a:rPr>
              <a:t>A.E.G.I.S.  |  BSIT Capstone 2  |  CLSU Department of Information Technology  | 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622"/>
                </a:solidFill>
                <a:latin typeface="Calibri"/>
              </a:rPr>
              <a:t>Panel Q&amp;A Preparation — AI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Anticipated questions and prepared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87552"/>
            <a:ext cx="8595360" cy="512064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6984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622"/>
                </a:solidFill>
                <a:latin typeface="Calibri"/>
              </a:rPr>
              <a:t>Q: Why 94.73%? Is that sufficient for fraud detection?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99616"/>
            <a:ext cx="859536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99616"/>
            <a:ext cx="64008" cy="1298448"/>
          </a:xfrm>
          <a:prstGeom prst="rect">
            <a:avLst/>
          </a:prstGeom>
          <a:solidFill>
            <a:srgbClr val="068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91056"/>
            <a:ext cx="8321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A: Yes — it exceeds our 90% target by 4.73 pp and is competitive with Agarwal et al. (93.2%). COG-specific accuracy is 96.67%. False negative rate is only 8.55% (target ≤15%), meaning very few tampered COGs are missed — the most critical metric for fraud detection.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07792"/>
            <a:ext cx="8595360" cy="512064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99008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622"/>
                </a:solidFill>
                <a:latin typeface="Calibri"/>
              </a:rPr>
              <a:t>Q: The training data was synthetic. How valid are your results?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419856"/>
            <a:ext cx="859536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419856"/>
            <a:ext cx="64008" cy="1298448"/>
          </a:xfrm>
          <a:prstGeom prst="rect">
            <a:avLst/>
          </a:prstGeom>
          <a:solidFill>
            <a:srgbClr val="068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11296"/>
            <a:ext cx="8321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A: Synthetic data is standard in fraud detection research (see: CASIA v2.0 benchmark used globally). Our 400 synthetic COGs mirror real CLSU document formatting precisely. Validation used a held-out test set of 1,184 images — separate from training. The 96.67% COG-specific result confirms domain adaptation succeeded.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828032"/>
            <a:ext cx="8595360" cy="512064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91032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622"/>
                </a:solidFill>
                <a:latin typeface="Calibri"/>
              </a:rPr>
              <a:t>Q: Can fraudsters deliberately bypass the AI system?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340096"/>
            <a:ext cx="859536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5340096"/>
            <a:ext cx="64008" cy="1298448"/>
          </a:xfrm>
          <a:prstGeom prst="rect">
            <a:avLst/>
          </a:prstGeom>
          <a:solidFill>
            <a:srgbClr val="068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431536"/>
            <a:ext cx="8321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A: The triple-pipeline creates multiple overlapping detection layers. Even if one signal is bypassed, others (clone-stamp, pixel anomaly, ELA, grade discrepancy check) can still flag tampering. V3 operates at pixel-level depth, making bypass extremely difficult without detectable artifacts.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6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660196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AABB"/>
                </a:solidFill>
                <a:latin typeface="Calibri"/>
              </a:rPr>
              <a:t>A.E.G.I.S.  |  BSIT Capstone 2  |  CLSU Department of Information Technology  | 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622"/>
                </a:solidFill>
                <a:latin typeface="Calibri"/>
              </a:rPr>
              <a:t>Panel Q&amp;A Preparation — Deployment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Technical and operational 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87552"/>
            <a:ext cx="8595360" cy="512064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6984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622"/>
                </a:solidFill>
                <a:latin typeface="Calibri"/>
              </a:rPr>
              <a:t>Q: Is the system truly production-ready?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99616"/>
            <a:ext cx="859536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99616"/>
            <a:ext cx="64008" cy="12984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91056"/>
            <a:ext cx="8321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A: Yes. 198/198 passing tests, zero security vulnerabilities, 99.2% uptime over 30-day testing, and all 7 OSA personnel recommend deployment. The zero-cost Render + Supabase + Cloudflare R2 stack is production-grade and fully configured in the render.yaml deployment manifest.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07792"/>
            <a:ext cx="8595360" cy="512064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99008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622"/>
                </a:solidFill>
                <a:latin typeface="Calibri"/>
              </a:rPr>
              <a:t>Q: What happens when the AI microservice goes down?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419856"/>
            <a:ext cx="859536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419856"/>
            <a:ext cx="64008" cy="12984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11296"/>
            <a:ext cx="8321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A: Graceful degradation is built in. Applications remain accessible for manual review with a clear 'AI scan pending' indicator. The Laravel Job Queue automatically retries failed scans with exponential backoff. This was formally tested in EmergencyRecoveryTest.php.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828032"/>
            <a:ext cx="8595360" cy="512064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91032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622"/>
                </a:solidFill>
                <a:latin typeface="Calibri"/>
              </a:rPr>
              <a:t>Q: How is sensitive student data protected?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340096"/>
            <a:ext cx="859536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5340096"/>
            <a:ext cx="64008" cy="12984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431536"/>
            <a:ext cx="8321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A: AES-256 document encryption, mandatory MFA for all users, RBAC with 3 permission tiers, rate limiting on all endpoints, IDOR prevention, immutable audit trail for every action, and HTTPS-only deployment. Zero vulnerabilities were detected in automated security testing.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6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660196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AABB"/>
                </a:solidFill>
                <a:latin typeface="Calibri"/>
              </a:rPr>
              <a:t>A.E.G.I.S.  |  BSIT Capstone 2  |  CLSU Department of Information Technology  | 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622"/>
                </a:solidFill>
                <a:latin typeface="Calibri"/>
              </a:rPr>
              <a:t>Overall System Acceptability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4.67/5.00 — all dimensions rated Excellent</a:t>
            </a:r>
          </a:p>
        </p:txBody>
      </p:sp>
      <p:pic>
        <p:nvPicPr>
          <p:cNvPr id="5" name="Picture 4" descr="Figure_Overall_Accep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8595360" cy="4754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6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0196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AABB"/>
                </a:solidFill>
                <a:latin typeface="Calibri"/>
              </a:rPr>
              <a:t>A.E.G.I.S.  |  BSIT Capstone 2  |  CLSU Department of Information Technology  | 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622"/>
                </a:solidFill>
                <a:latin typeface="Calibri"/>
              </a:rPr>
              <a:t>System Interface — Student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Clean, responsive interface for scholarship applicants</a:t>
            </a:r>
          </a:p>
        </p:txBody>
      </p:sp>
      <p:pic>
        <p:nvPicPr>
          <p:cNvPr id="5" name="Picture 4" descr="Figure_13_Stud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4160520" cy="5029200"/>
          </a:xfrm>
          <a:prstGeom prst="rect">
            <a:avLst/>
          </a:prstGeom>
        </p:spPr>
      </p:pic>
      <p:pic>
        <p:nvPicPr>
          <p:cNvPr id="6" name="Picture 5" descr="Figure_14_Student_Apply_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05840"/>
            <a:ext cx="416052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6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AABB"/>
                </a:solidFill>
                <a:latin typeface="Calibri"/>
              </a:rPr>
              <a:t>A.E.G.I.S.  |  BSIT Capstone 2  |  CLSU Department of Information Technology  | 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622"/>
                </a:solidFill>
                <a:latin typeface="Calibri"/>
              </a:rPr>
              <a:t>System Interface — Admin Review &amp; AI 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Fraud detection panel with heatmap visualization</a:t>
            </a:r>
          </a:p>
        </p:txBody>
      </p:sp>
      <p:pic>
        <p:nvPicPr>
          <p:cNvPr id="5" name="Picture 4" descr="Figure_07_Admin_Application_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4160520" cy="5029200"/>
          </a:xfrm>
          <a:prstGeom prst="rect">
            <a:avLst/>
          </a:prstGeom>
        </p:spPr>
      </p:pic>
      <p:pic>
        <p:nvPicPr>
          <p:cNvPr id="6" name="Picture 5" descr="Figure_09_Application_Review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05840"/>
            <a:ext cx="416052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6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AABB"/>
                </a:solidFill>
                <a:latin typeface="Calibri"/>
              </a:rPr>
              <a:t>A.E.G.I.S.  |  BSIT Capstone 2  |  CLSU Department of Information Technology  | 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622"/>
                </a:solidFill>
                <a:latin typeface="Calibri"/>
              </a:rPr>
              <a:t>System Interface — Analytics &amp;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Superadmin analytics dashboard and configuration</a:t>
            </a:r>
          </a:p>
        </p:txBody>
      </p:sp>
      <p:pic>
        <p:nvPicPr>
          <p:cNvPr id="5" name="Picture 4" descr="Figure_03_Analytic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4160520" cy="5029200"/>
          </a:xfrm>
          <a:prstGeom prst="rect">
            <a:avLst/>
          </a:prstGeom>
        </p:spPr>
      </p:pic>
      <p:pic>
        <p:nvPicPr>
          <p:cNvPr id="6" name="Picture 5" descr="Figure_04_System_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05840"/>
            <a:ext cx="416052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6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AABB"/>
                </a:solidFill>
                <a:latin typeface="Calibri"/>
              </a:rPr>
              <a:t>A.E.G.I.S.  |  BSIT Capstone 2  |  CLSU Department of Information Technology  | 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89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9144000" cy="82296"/>
          </a:xfrm>
          <a:prstGeom prst="rect">
            <a:avLst/>
          </a:prstGeom>
          <a:solidFill>
            <a:srgbClr val="C89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C89622"/>
                </a:solidFill>
                <a:latin typeface="Calibri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572768"/>
            <a:ext cx="4572000" cy="54864"/>
          </a:xfrm>
          <a:prstGeom prst="rect">
            <a:avLst/>
          </a:prstGeom>
          <a:solidFill>
            <a:srgbClr val="C89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Calibri"/>
              </a:rPr>
              <a:t>A.E.G.I.S. — AI-Enhanced Grant Information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8229600" cy="2240280"/>
          </a:xfrm>
          <a:prstGeom prst="rect">
            <a:avLst/>
          </a:prstGeom>
          <a:solidFill>
            <a:srgbClr val="0A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50592"/>
            <a:ext cx="7863840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D5E0"/>
                </a:solidFill>
                <a:latin typeface="Calibri"/>
              </a:rPr>
              <a:t>"A.E.G.I.S. demonstrates that AI-augmented digital services can improve
public sector efficiency while maintaining accountability and security.
This research contributes a replicable model for Philippine state universities
pursuing digital transformation aligned with Republic Act 11032."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0060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[Your Names Here]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30368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BBCC"/>
                </a:solidFill>
                <a:latin typeface="Calibri"/>
              </a:rPr>
              <a:t>Department of Information Technology  •  College of Engineering
Central Luzon State University  •  Science City of Muñoz, Nueva Ecija  •  January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989320"/>
            <a:ext cx="1920240" cy="1005840"/>
          </a:xfrm>
          <a:prstGeom prst="rect">
            <a:avLst/>
          </a:prstGeom>
          <a:solidFill>
            <a:srgbClr val="C89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2B5A"/>
                </a:solidFill>
                <a:latin typeface="Calibri"/>
              </a:rPr>
              <a:t>94.73%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836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B5A"/>
                </a:solidFill>
                <a:latin typeface="Calibri"/>
              </a:rPr>
              <a:t>AI 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5989320"/>
            <a:ext cx="1920240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6035040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4.67/5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65836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UAT 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5989320"/>
            <a:ext cx="1920240" cy="1005840"/>
          </a:xfrm>
          <a:prstGeom prst="rect">
            <a:avLst/>
          </a:prstGeom>
          <a:solidFill>
            <a:srgbClr val="068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6035040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198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65836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Tests Passed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5989320"/>
            <a:ext cx="192024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6035040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65836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Recommend 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